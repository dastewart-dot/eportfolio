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6291072"/>
            <a:ext cx="11155680" cy="27432"/>
          </a:xfrm>
          <a:prstGeom prst="rect">
            <a:avLst/>
          </a:prstGeom>
          <a:solidFill>
            <a:srgbClr val="C79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7589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79A49"/>
                </a:solidFill>
              </a:defRPr>
            </a:pPr>
            <a:r>
              <a:t>ONE</a:t>
            </a:r>
          </a:p>
          <a:p>
            <a:pPr>
              <a:defRPr sz="7200" b="1">
                <a:solidFill>
                  <a:srgbClr val="ECE7DB"/>
                </a:solidFill>
              </a:defRPr>
            </a:pPr>
            <a:r>
              <a:t>WAY</a:t>
            </a:r>
          </a:p>
          <a:p>
            <a:pPr>
              <a:defRPr sz="7200" b="1">
                <a:solidFill>
                  <a:srgbClr val="ECE7DB"/>
                </a:solidFill>
              </a:defRPr>
            </a:pPr>
            <a:r>
              <a:t>ROUTE</a:t>
            </a:r>
          </a:p>
          <a:p>
            <a:pPr>
              <a:defRPr sz="1300" b="1">
                <a:solidFill>
                  <a:srgbClr val="C79A49"/>
                </a:solidFill>
              </a:defRPr>
            </a:pPr>
            <a:r>
              <a:t>DRAMA / SCI-FI / PSYCHOLOGICAL THRILLER</a:t>
            </a:r>
          </a:p>
          <a:p>
            <a:pPr>
              <a:defRPr sz="1500" b="0">
                <a:solidFill>
                  <a:srgbClr val="A4A9B1"/>
                </a:solidFill>
              </a:defRPr>
            </a:pPr>
            <a:r>
              <a:t>Atmospheric  •  Reflective  •  Haunting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32520" y="1188720"/>
            <a:ext cx="2377440" cy="3383280"/>
          </a:xfrm>
          <a:prstGeom prst="roundRect">
            <a:avLst/>
          </a:prstGeom>
          <a:solidFill>
            <a:srgbClr val="10151D"/>
          </a:solidFill>
          <a:ln>
            <a:solidFill>
              <a:srgbClr val="C79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79A49"/>
                </a:solidFill>
              </a:defRPr>
            </a:pPr>
            <a:r>
              <a:t>MIDNIGHT LINE</a:t>
            </a:r>
          </a:p>
          <a:p>
            <a:pPr algn="ctr">
              <a:defRPr sz="1100" b="1">
                <a:solidFill>
                  <a:srgbClr val="C79A49"/>
                </a:solidFill>
              </a:defRPr>
            </a:pPr>
            <a:r>
              <a:t>DEPARTURE</a:t>
            </a:r>
          </a:p>
          <a:p>
            <a:pPr algn="ctr">
              <a:defRPr sz="2300" b="1">
                <a:solidFill>
                  <a:srgbClr val="ECE7DB"/>
                </a:solidFill>
              </a:defRPr>
            </a:pPr>
            <a:r>
              <a:t>00:00</a:t>
            </a:r>
          </a:p>
          <a:p>
            <a:pPr algn="ctr">
              <a:defRPr sz="1100" b="1">
                <a:solidFill>
                  <a:srgbClr val="C79A49"/>
                </a:solidFill>
              </a:defRPr>
            </a:pPr>
            <a:r>
              <a:t>DESTINATION</a:t>
            </a:r>
          </a:p>
          <a:p>
            <a:pPr algn="ctr">
              <a:defRPr sz="2300" b="1">
                <a:solidFill>
                  <a:srgbClr val="ECE7DB"/>
                </a:solidFill>
              </a:defRPr>
            </a:pPr>
            <a:r>
              <a:t>MEMORY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7406640" y="1828800"/>
            <a:ext cx="1234440" cy="3749040"/>
          </a:xfrm>
          <a:prstGeom prst="line">
            <a:avLst/>
          </a:prstGeom>
          <a:ln w="25400">
            <a:solidFill>
              <a:srgbClr val="C79A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7754112" y="1828800"/>
            <a:ext cx="1060703" cy="3749040"/>
          </a:xfrm>
          <a:prstGeom prst="line">
            <a:avLst/>
          </a:prstGeom>
          <a:ln w="25400">
            <a:solidFill>
              <a:srgbClr val="C79A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424927" y="5577840"/>
            <a:ext cx="658368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71231" y="5157216"/>
            <a:ext cx="617219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17536" y="4736592"/>
            <a:ext cx="576072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4315968"/>
            <a:ext cx="534924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10144" y="3895344"/>
            <a:ext cx="493776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56448" y="3474719"/>
            <a:ext cx="452628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02751" y="3054095"/>
            <a:ext cx="411479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49055" y="2633471"/>
            <a:ext cx="370332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0" y="635508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9B1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6291072"/>
            <a:ext cx="11155680" cy="27432"/>
          </a:xfrm>
          <a:prstGeom prst="rect">
            <a:avLst/>
          </a:prstGeom>
          <a:solidFill>
            <a:srgbClr val="C79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79A49"/>
                </a:solidFill>
              </a:defRPr>
            </a:pPr>
            <a:r>
              <a:t>THE EMOTIONAL ENGINE</a:t>
            </a:r>
          </a:p>
          <a:p>
            <a:pPr>
              <a:defRPr sz="3000" b="1">
                <a:solidFill>
                  <a:srgbClr val="ECE7DB"/>
                </a:solidFill>
              </a:defRPr>
            </a:pPr>
            <a:r>
              <a:t>A journey through grief, regret and healing.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5943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Memory becomes a place Henry can physically enter.</a:t>
            </a:r>
          </a:p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Each stop forces him toward pain he has avoided.</a:t>
            </a:r>
          </a:p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Forgiveness and second chances become matters of survival.</a:t>
            </a:r>
          </a:p>
        </p:txBody>
      </p:sp>
      <p:sp>
        <p:nvSpPr>
          <p:cNvPr id="5" name="Oval 4"/>
          <p:cNvSpPr/>
          <p:nvPr/>
        </p:nvSpPr>
        <p:spPr>
          <a:xfrm>
            <a:off x="8092440" y="2103120"/>
            <a:ext cx="2377440" cy="2377440"/>
          </a:xfrm>
          <a:prstGeom prst="ellipse">
            <a:avLst/>
          </a:prstGeom>
          <a:noFill/>
          <a:ln w="19050">
            <a:solidFill>
              <a:srgbClr val="31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0" y="2423160"/>
            <a:ext cx="1737360" cy="1737360"/>
          </a:xfrm>
          <a:prstGeom prst="ellipse">
            <a:avLst/>
          </a:prstGeom>
          <a:noFill/>
          <a:ln w="19050">
            <a:solidFill>
              <a:srgbClr val="31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32519" y="2743200"/>
            <a:ext cx="1097280" cy="1097280"/>
          </a:xfrm>
          <a:prstGeom prst="ellipse">
            <a:avLst/>
          </a:prstGeom>
          <a:noFill/>
          <a:ln w="19050">
            <a:solidFill>
              <a:srgbClr val="C79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71432" y="3182112"/>
            <a:ext cx="228600" cy="228600"/>
          </a:xfrm>
          <a:prstGeom prst="ellipse">
            <a:avLst/>
          </a:prstGeom>
          <a:solidFill>
            <a:srgbClr val="79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35508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9B1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6291072"/>
            <a:ext cx="11155680" cy="27432"/>
          </a:xfrm>
          <a:prstGeom prst="rect">
            <a:avLst/>
          </a:prstGeom>
          <a:solidFill>
            <a:srgbClr val="C79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79A49"/>
                </a:solidFill>
              </a:defRPr>
            </a:pPr>
            <a:r>
              <a:t>PROJECT SNAPSHOT</a:t>
            </a:r>
          </a:p>
          <a:p>
            <a:pPr>
              <a:defRPr sz="3000" b="1">
                <a:solidFill>
                  <a:srgbClr val="ECE7DB"/>
                </a:solidFill>
              </a:defRPr>
            </a:pPr>
            <a:r>
              <a:t>A contained psychological journey with cinematic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5943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Format: Short Film (45–60 min)</a:t>
            </a:r>
          </a:p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Comparables: The Twilight Zone • The Sixth Sense • Eternal Sunshine</a:t>
            </a:r>
          </a:p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Logline: A grieving conductor boards a midnight train that stops at his memories.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7406640" y="1828800"/>
            <a:ext cx="1234440" cy="3703320"/>
          </a:xfrm>
          <a:prstGeom prst="line">
            <a:avLst/>
          </a:prstGeom>
          <a:ln w="25400">
            <a:solidFill>
              <a:srgbClr val="C79A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7754112" y="1828800"/>
            <a:ext cx="1060703" cy="3703320"/>
          </a:xfrm>
          <a:prstGeom prst="line">
            <a:avLst/>
          </a:prstGeom>
          <a:ln w="25400">
            <a:solidFill>
              <a:srgbClr val="C79A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424927" y="5532120"/>
            <a:ext cx="658368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71231" y="5111496"/>
            <a:ext cx="617219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17536" y="4690872"/>
            <a:ext cx="576072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4270248"/>
            <a:ext cx="534924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10144" y="3849624"/>
            <a:ext cx="493776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56448" y="3428999"/>
            <a:ext cx="452628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02751" y="3008375"/>
            <a:ext cx="411479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49055" y="2587751"/>
            <a:ext cx="370332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0" y="635508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9B1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6291072"/>
            <a:ext cx="11155680" cy="27432"/>
          </a:xfrm>
          <a:prstGeom prst="rect">
            <a:avLst/>
          </a:prstGeom>
          <a:solidFill>
            <a:srgbClr val="C79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79A49"/>
                </a:solidFill>
              </a:defRPr>
            </a:pPr>
            <a:r>
              <a:t>THE WORLD</a:t>
            </a:r>
          </a:p>
          <a:p>
            <a:pPr>
              <a:defRPr sz="3000" b="1">
                <a:solidFill>
                  <a:srgbClr val="ECE7DB"/>
                </a:solidFill>
              </a:defRPr>
            </a:pPr>
            <a:r>
              <a:t>The midnight train is Henry’s mind in motion.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5943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A surreal train moving through darkness.</a:t>
            </a:r>
          </a:p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Cars transform with fog, water and whispers.</a:t>
            </a:r>
          </a:p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Windows reveal fragments of a life he cannot outrun.</a:t>
            </a:r>
          </a:p>
        </p:txBody>
      </p:sp>
      <p:sp>
        <p:nvSpPr>
          <p:cNvPr id="5" name="Oval 4"/>
          <p:cNvSpPr/>
          <p:nvPr/>
        </p:nvSpPr>
        <p:spPr>
          <a:xfrm>
            <a:off x="8092440" y="2103120"/>
            <a:ext cx="2377440" cy="2377440"/>
          </a:xfrm>
          <a:prstGeom prst="ellipse">
            <a:avLst/>
          </a:prstGeom>
          <a:noFill/>
          <a:ln w="19050">
            <a:solidFill>
              <a:srgbClr val="31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0" y="2423160"/>
            <a:ext cx="1737360" cy="1737360"/>
          </a:xfrm>
          <a:prstGeom prst="ellipse">
            <a:avLst/>
          </a:prstGeom>
          <a:noFill/>
          <a:ln w="19050">
            <a:solidFill>
              <a:srgbClr val="31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32519" y="2743200"/>
            <a:ext cx="1097280" cy="1097280"/>
          </a:xfrm>
          <a:prstGeom prst="ellipse">
            <a:avLst/>
          </a:prstGeom>
          <a:noFill/>
          <a:ln w="19050">
            <a:solidFill>
              <a:srgbClr val="C79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71432" y="3182112"/>
            <a:ext cx="228600" cy="228600"/>
          </a:xfrm>
          <a:prstGeom prst="ellipse">
            <a:avLst/>
          </a:prstGeom>
          <a:solidFill>
            <a:srgbClr val="79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35508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9B1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6291072"/>
            <a:ext cx="11155680" cy="27432"/>
          </a:xfrm>
          <a:prstGeom prst="rect">
            <a:avLst/>
          </a:prstGeom>
          <a:solidFill>
            <a:srgbClr val="C79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79A49"/>
                </a:solidFill>
              </a:defRPr>
            </a:pPr>
            <a:r>
              <a:t>ACT I</a:t>
            </a:r>
          </a:p>
          <a:p>
            <a:pPr>
              <a:defRPr sz="3000" b="1">
                <a:solidFill>
                  <a:srgbClr val="ECE7DB"/>
                </a:solidFill>
              </a:defRPr>
            </a:pPr>
            <a:r>
              <a:t>The Train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5943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Henry boards a mysterious midnight train.</a:t>
            </a:r>
          </a:p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The environment begins to shift around him.</a:t>
            </a:r>
          </a:p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He realizes the route is moving through his own memories.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7406640" y="1828800"/>
            <a:ext cx="1234440" cy="3703320"/>
          </a:xfrm>
          <a:prstGeom prst="line">
            <a:avLst/>
          </a:prstGeom>
          <a:ln w="25400">
            <a:solidFill>
              <a:srgbClr val="C79A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7754112" y="1828800"/>
            <a:ext cx="1060703" cy="3703320"/>
          </a:xfrm>
          <a:prstGeom prst="line">
            <a:avLst/>
          </a:prstGeom>
          <a:ln w="25400">
            <a:solidFill>
              <a:srgbClr val="C79A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424927" y="5532120"/>
            <a:ext cx="658368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71231" y="5111496"/>
            <a:ext cx="617219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17536" y="4690872"/>
            <a:ext cx="576072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4270248"/>
            <a:ext cx="534924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10144" y="3849624"/>
            <a:ext cx="493776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56448" y="3428999"/>
            <a:ext cx="452628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02751" y="3008375"/>
            <a:ext cx="411479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49055" y="2587751"/>
            <a:ext cx="370332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0" y="635508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9B1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6291072"/>
            <a:ext cx="11155680" cy="27432"/>
          </a:xfrm>
          <a:prstGeom prst="rect">
            <a:avLst/>
          </a:prstGeom>
          <a:solidFill>
            <a:srgbClr val="C79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79A49"/>
                </a:solidFill>
              </a:defRPr>
            </a:pPr>
            <a:r>
              <a:t>CHARACTERS</a:t>
            </a:r>
          </a:p>
          <a:p>
            <a:pPr>
              <a:defRPr sz="3000" b="1">
                <a:solidFill>
                  <a:srgbClr val="ECE7DB"/>
                </a:solidFill>
              </a:defRPr>
            </a:pPr>
            <a:r>
              <a:t>Four figures. One emotional reckoning.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5943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HENRY ROBERTS — grief-stricken conductor</a:t>
            </a:r>
          </a:p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ELENA ROBERTS — Henry’s late wife</a:t>
            </a:r>
          </a:p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BEN ROBERTS — his estranged son</a:t>
            </a:r>
          </a:p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TRAIN ATTENDANT — guide and manifestation of conscience</a:t>
            </a:r>
          </a:p>
        </p:txBody>
      </p:sp>
      <p:sp>
        <p:nvSpPr>
          <p:cNvPr id="5" name="Oval 4"/>
          <p:cNvSpPr/>
          <p:nvPr/>
        </p:nvSpPr>
        <p:spPr>
          <a:xfrm>
            <a:off x="8092440" y="2103120"/>
            <a:ext cx="2377440" cy="2377440"/>
          </a:xfrm>
          <a:prstGeom prst="ellipse">
            <a:avLst/>
          </a:prstGeom>
          <a:noFill/>
          <a:ln w="19050">
            <a:solidFill>
              <a:srgbClr val="31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0" y="2423160"/>
            <a:ext cx="1737360" cy="1737360"/>
          </a:xfrm>
          <a:prstGeom prst="ellipse">
            <a:avLst/>
          </a:prstGeom>
          <a:noFill/>
          <a:ln w="19050">
            <a:solidFill>
              <a:srgbClr val="31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32519" y="2743200"/>
            <a:ext cx="1097280" cy="1097280"/>
          </a:xfrm>
          <a:prstGeom prst="ellipse">
            <a:avLst/>
          </a:prstGeom>
          <a:noFill/>
          <a:ln w="19050">
            <a:solidFill>
              <a:srgbClr val="C79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71432" y="3182112"/>
            <a:ext cx="228600" cy="228600"/>
          </a:xfrm>
          <a:prstGeom prst="ellipse">
            <a:avLst/>
          </a:prstGeom>
          <a:solidFill>
            <a:srgbClr val="79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35508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9B1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6291072"/>
            <a:ext cx="11155680" cy="27432"/>
          </a:xfrm>
          <a:prstGeom prst="rect">
            <a:avLst/>
          </a:prstGeom>
          <a:solidFill>
            <a:srgbClr val="C79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79A49"/>
                </a:solidFill>
              </a:defRPr>
            </a:pPr>
            <a:r>
              <a:t>ACT II</a:t>
            </a:r>
          </a:p>
          <a:p>
            <a:pPr>
              <a:defRPr sz="3000" b="1">
                <a:solidFill>
                  <a:srgbClr val="ECE7DB"/>
                </a:solidFill>
              </a:defRPr>
            </a:pPr>
            <a:r>
              <a:t>The Stops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5943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Hospital hallway — fleeing his wife’s death.</a:t>
            </a:r>
          </a:p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Baseball field — the son who kept waiting.</a:t>
            </a:r>
          </a:p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Platform transfer — the moment he abandoned Ben.</a:t>
            </a:r>
          </a:p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Parental memories — lessons ignored.</a:t>
            </a:r>
          </a:p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Isolation — the cost of emotional silence.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7406640" y="1828800"/>
            <a:ext cx="1234440" cy="3703320"/>
          </a:xfrm>
          <a:prstGeom prst="line">
            <a:avLst/>
          </a:prstGeom>
          <a:ln w="25400">
            <a:solidFill>
              <a:srgbClr val="C79A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7754112" y="1828800"/>
            <a:ext cx="1060703" cy="3703320"/>
          </a:xfrm>
          <a:prstGeom prst="line">
            <a:avLst/>
          </a:prstGeom>
          <a:ln w="25400">
            <a:solidFill>
              <a:srgbClr val="C79A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424927" y="5532120"/>
            <a:ext cx="658368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71231" y="5111496"/>
            <a:ext cx="617219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17536" y="4690872"/>
            <a:ext cx="576072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4270248"/>
            <a:ext cx="534924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10144" y="3849624"/>
            <a:ext cx="493776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56448" y="3428999"/>
            <a:ext cx="452628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02751" y="3008375"/>
            <a:ext cx="411479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49055" y="2587751"/>
            <a:ext cx="370332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0" y="635508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9B1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6291072"/>
            <a:ext cx="11155680" cy="27432"/>
          </a:xfrm>
          <a:prstGeom prst="rect">
            <a:avLst/>
          </a:prstGeom>
          <a:solidFill>
            <a:srgbClr val="C79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79A49"/>
                </a:solidFill>
              </a:defRPr>
            </a:pPr>
            <a:r>
              <a:t>SET PIECE</a:t>
            </a:r>
          </a:p>
          <a:p>
            <a:pPr>
              <a:defRPr sz="3000" b="1">
                <a:solidFill>
                  <a:srgbClr val="ECE7DB"/>
                </a:solidFill>
              </a:defRPr>
            </a:pPr>
            <a:r>
              <a:t>The corridor of mirrors.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5943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An infinite passage filled with versions of Henry.</a:t>
            </a:r>
          </a:p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Each reflection represents a life, choice or identity.</a:t>
            </a:r>
          </a:p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The mirrors shatter one by one as guilt begins to release.</a:t>
            </a:r>
          </a:p>
        </p:txBody>
      </p:sp>
      <p:sp>
        <p:nvSpPr>
          <p:cNvPr id="5" name="Oval 4"/>
          <p:cNvSpPr/>
          <p:nvPr/>
        </p:nvSpPr>
        <p:spPr>
          <a:xfrm>
            <a:off x="8092440" y="2103120"/>
            <a:ext cx="2377440" cy="2377440"/>
          </a:xfrm>
          <a:prstGeom prst="ellipse">
            <a:avLst/>
          </a:prstGeom>
          <a:noFill/>
          <a:ln w="19050">
            <a:solidFill>
              <a:srgbClr val="31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0" y="2423160"/>
            <a:ext cx="1737360" cy="1737360"/>
          </a:xfrm>
          <a:prstGeom prst="ellipse">
            <a:avLst/>
          </a:prstGeom>
          <a:noFill/>
          <a:ln w="19050">
            <a:solidFill>
              <a:srgbClr val="31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32519" y="2743200"/>
            <a:ext cx="1097280" cy="1097280"/>
          </a:xfrm>
          <a:prstGeom prst="ellipse">
            <a:avLst/>
          </a:prstGeom>
          <a:noFill/>
          <a:ln w="19050">
            <a:solidFill>
              <a:srgbClr val="C79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71432" y="3182112"/>
            <a:ext cx="228600" cy="228600"/>
          </a:xfrm>
          <a:prstGeom prst="ellipse">
            <a:avLst/>
          </a:prstGeom>
          <a:solidFill>
            <a:srgbClr val="79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35508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9B1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6291072"/>
            <a:ext cx="11155680" cy="27432"/>
          </a:xfrm>
          <a:prstGeom prst="rect">
            <a:avLst/>
          </a:prstGeom>
          <a:solidFill>
            <a:srgbClr val="C79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79A49"/>
                </a:solidFill>
              </a:defRPr>
            </a:pPr>
            <a:r>
              <a:t>ACT III</a:t>
            </a:r>
          </a:p>
          <a:p>
            <a:pPr>
              <a:defRPr sz="3000" b="1">
                <a:solidFill>
                  <a:srgbClr val="ECE7DB"/>
                </a:solidFill>
              </a:defRPr>
            </a:pPr>
            <a:r>
              <a:t>The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5943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Final stop: the night of his son’s fatal accident.</a:t>
            </a:r>
          </a:p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Henry confronts the regret beneath every other memory.</a:t>
            </a:r>
          </a:p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The choice: remain trapped or return to life.</a:t>
            </a:r>
          </a:p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Henry chooses to live.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7406640" y="1828800"/>
            <a:ext cx="1234440" cy="3703320"/>
          </a:xfrm>
          <a:prstGeom prst="line">
            <a:avLst/>
          </a:prstGeom>
          <a:ln w="25400">
            <a:solidFill>
              <a:srgbClr val="C79A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7754112" y="1828800"/>
            <a:ext cx="1060703" cy="3703320"/>
          </a:xfrm>
          <a:prstGeom prst="line">
            <a:avLst/>
          </a:prstGeom>
          <a:ln w="25400">
            <a:solidFill>
              <a:srgbClr val="C79A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424927" y="5532120"/>
            <a:ext cx="658368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71231" y="5111496"/>
            <a:ext cx="617219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17536" y="4690872"/>
            <a:ext cx="576072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4270248"/>
            <a:ext cx="534924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10144" y="3849624"/>
            <a:ext cx="493776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56448" y="3428999"/>
            <a:ext cx="452628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02751" y="3008375"/>
            <a:ext cx="411479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49055" y="2587751"/>
            <a:ext cx="370332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0" y="635508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9B1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6291072"/>
            <a:ext cx="11155680" cy="27432"/>
          </a:xfrm>
          <a:prstGeom prst="rect">
            <a:avLst/>
          </a:prstGeom>
          <a:solidFill>
            <a:srgbClr val="C79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79A49"/>
                </a:solidFill>
              </a:defRPr>
            </a:pPr>
            <a:r>
              <a:t>ENDING</a:t>
            </a:r>
          </a:p>
          <a:p>
            <a:pPr>
              <a:defRPr sz="3000" b="1">
                <a:solidFill>
                  <a:srgbClr val="ECE7DB"/>
                </a:solidFill>
              </a:defRPr>
            </a:pPr>
            <a:r>
              <a:t>The route ends. Life begins again.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5943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Henry wakes at the station.</a:t>
            </a:r>
          </a:p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The train is gone.</a:t>
            </a:r>
          </a:p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He walks toward sunrise — and toward the future.</a:t>
            </a:r>
          </a:p>
        </p:txBody>
      </p:sp>
      <p:sp>
        <p:nvSpPr>
          <p:cNvPr id="5" name="Oval 4"/>
          <p:cNvSpPr/>
          <p:nvPr/>
        </p:nvSpPr>
        <p:spPr>
          <a:xfrm>
            <a:off x="8092440" y="2103120"/>
            <a:ext cx="2377440" cy="2377440"/>
          </a:xfrm>
          <a:prstGeom prst="ellipse">
            <a:avLst/>
          </a:prstGeom>
          <a:noFill/>
          <a:ln w="19050">
            <a:solidFill>
              <a:srgbClr val="31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0" y="2423160"/>
            <a:ext cx="1737360" cy="1737360"/>
          </a:xfrm>
          <a:prstGeom prst="ellipse">
            <a:avLst/>
          </a:prstGeom>
          <a:noFill/>
          <a:ln w="19050">
            <a:solidFill>
              <a:srgbClr val="31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32519" y="2743200"/>
            <a:ext cx="1097280" cy="1097280"/>
          </a:xfrm>
          <a:prstGeom prst="ellipse">
            <a:avLst/>
          </a:prstGeom>
          <a:noFill/>
          <a:ln w="19050">
            <a:solidFill>
              <a:srgbClr val="C79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71432" y="3182112"/>
            <a:ext cx="228600" cy="228600"/>
          </a:xfrm>
          <a:prstGeom prst="ellipse">
            <a:avLst/>
          </a:prstGeom>
          <a:solidFill>
            <a:srgbClr val="79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35508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9B1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6291072"/>
            <a:ext cx="11155680" cy="27432"/>
          </a:xfrm>
          <a:prstGeom prst="rect">
            <a:avLst/>
          </a:prstGeom>
          <a:solidFill>
            <a:srgbClr val="C79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79A49"/>
                </a:solidFill>
              </a:defRPr>
            </a:pPr>
            <a:r>
              <a:t>THEMATIC ARC</a:t>
            </a:r>
          </a:p>
          <a:p>
            <a:pPr>
              <a:defRPr sz="3000" b="1">
                <a:solidFill>
                  <a:srgbClr val="ECE7DB"/>
                </a:solidFill>
              </a:defRPr>
            </a:pPr>
            <a:r>
              <a:t>Avoidance → Acceptance → Renewal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5943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Regret and redemption</a:t>
            </a:r>
          </a:p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Memory as prison — and pathway</a:t>
            </a:r>
          </a:p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Emotional silence</a:t>
            </a:r>
          </a:p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Time as life’s true currency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7406640" y="1828800"/>
            <a:ext cx="1234440" cy="3703320"/>
          </a:xfrm>
          <a:prstGeom prst="line">
            <a:avLst/>
          </a:prstGeom>
          <a:ln w="25400">
            <a:solidFill>
              <a:srgbClr val="C79A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7754112" y="1828800"/>
            <a:ext cx="1060703" cy="3703320"/>
          </a:xfrm>
          <a:prstGeom prst="line">
            <a:avLst/>
          </a:prstGeom>
          <a:ln w="25400">
            <a:solidFill>
              <a:srgbClr val="C79A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424927" y="5532120"/>
            <a:ext cx="658368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71231" y="5111496"/>
            <a:ext cx="617219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17536" y="4690872"/>
            <a:ext cx="576072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4270248"/>
            <a:ext cx="534924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10144" y="3849624"/>
            <a:ext cx="493776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56448" y="3428999"/>
            <a:ext cx="452628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02751" y="3008375"/>
            <a:ext cx="411479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49055" y="2587751"/>
            <a:ext cx="370332" cy="32004"/>
          </a:xfrm>
          <a:prstGeom prst="rect">
            <a:avLst/>
          </a:prstGeom>
          <a:solidFill>
            <a:srgbClr val="31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0" y="635508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9B1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6291072"/>
            <a:ext cx="11155680" cy="27432"/>
          </a:xfrm>
          <a:prstGeom prst="rect">
            <a:avLst/>
          </a:prstGeom>
          <a:solidFill>
            <a:srgbClr val="C79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79A49"/>
                </a:solidFill>
              </a:defRPr>
            </a:pPr>
            <a:r>
              <a:t>WHY THIS FILM</a:t>
            </a:r>
          </a:p>
          <a:p>
            <a:pPr>
              <a:defRPr sz="3000" b="1">
                <a:solidFill>
                  <a:srgbClr val="ECE7DB"/>
                </a:solidFill>
              </a:defRPr>
            </a:pPr>
            <a:r>
              <a:t>A supernatural journey grounded in human emotion.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5943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Genre makes grief visible instead of simply discussing it.</a:t>
            </a:r>
          </a:p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The contained train setting supports a distinctive visual identity and practical production plan.</a:t>
            </a:r>
          </a:p>
          <a:p>
            <a:pPr>
              <a:spcAft>
                <a:spcPts val="1500"/>
              </a:spcAft>
              <a:defRPr sz="1800">
                <a:solidFill>
                  <a:srgbClr val="ECE7DB"/>
                </a:solidFill>
              </a:defRPr>
            </a:pPr>
            <a:r>
              <a:t>—  The story ends not with forgetting the past, but choosing to live beyond it.</a:t>
            </a:r>
          </a:p>
        </p:txBody>
      </p:sp>
      <p:sp>
        <p:nvSpPr>
          <p:cNvPr id="5" name="Oval 4"/>
          <p:cNvSpPr/>
          <p:nvPr/>
        </p:nvSpPr>
        <p:spPr>
          <a:xfrm>
            <a:off x="8092440" y="2103120"/>
            <a:ext cx="2377440" cy="2377440"/>
          </a:xfrm>
          <a:prstGeom prst="ellipse">
            <a:avLst/>
          </a:prstGeom>
          <a:noFill/>
          <a:ln w="19050">
            <a:solidFill>
              <a:srgbClr val="31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0" y="2423160"/>
            <a:ext cx="1737360" cy="1737360"/>
          </a:xfrm>
          <a:prstGeom prst="ellipse">
            <a:avLst/>
          </a:prstGeom>
          <a:noFill/>
          <a:ln w="19050">
            <a:solidFill>
              <a:srgbClr val="31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32519" y="2743200"/>
            <a:ext cx="1097280" cy="1097280"/>
          </a:xfrm>
          <a:prstGeom prst="ellipse">
            <a:avLst/>
          </a:prstGeom>
          <a:noFill/>
          <a:ln w="19050">
            <a:solidFill>
              <a:srgbClr val="C79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71432" y="3182112"/>
            <a:ext cx="228600" cy="228600"/>
          </a:xfrm>
          <a:prstGeom prst="ellipse">
            <a:avLst/>
          </a:prstGeom>
          <a:solidFill>
            <a:srgbClr val="79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35508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9B1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